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640080" y="914400"/>
            <a:ext cx="6035040" cy="457200"/>
          </a:xfrm>
          <a:prstGeom prst="rect">
            <a:avLst/>
          </a:prstGeom>
          <a:noFill/>
        </p:spPr>
        <p:txBody>
          <a:bodyPr wrap="square" anchor="t" lIns="0" rIns="0" tIns="0" bIns="0">
            <a:spAutoFit/>
          </a:bodyPr>
          <a:lstStyle/>
          <a:p>
            <a:pPr algn="l">
              <a:lnSpc>
                <a:spcPct val="105000"/>
              </a:lnSpc>
            </a:pPr>
            <a:r>
              <a:rPr sz="1400" b="1" i="0">
                <a:solidFill>
                  <a:srgbClr val="02C39A"/>
                </a:solidFill>
                <a:latin typeface="Calibri"/>
              </a:rPr>
              <a:t>ANYMIND  ·  COMPETITIVE PITCH</a:t>
            </a:r>
          </a:p>
        </p:txBody>
      </p:sp>
      <p:sp>
        <p:nvSpPr>
          <p:cNvPr id="3" name="TextBox 2"/>
          <p:cNvSpPr txBox="1"/>
          <p:nvPr/>
        </p:nvSpPr>
        <p:spPr>
          <a:xfrm>
            <a:off x="640080" y="1554480"/>
            <a:ext cx="6217920" cy="1463040"/>
          </a:xfrm>
          <a:prstGeom prst="rect">
            <a:avLst/>
          </a:prstGeom>
          <a:noFill/>
        </p:spPr>
        <p:txBody>
          <a:bodyPr wrap="square" anchor="t" lIns="0" rIns="0" tIns="0" bIns="0">
            <a:spAutoFit/>
          </a:bodyPr>
          <a:lstStyle/>
          <a:p>
            <a:pPr algn="l">
              <a:lnSpc>
                <a:spcPct val="105000"/>
              </a:lnSpc>
            </a:pPr>
            <a:r>
              <a:rPr sz="4600" b="1" i="0">
                <a:solidFill>
                  <a:srgbClr val="FFFFFF"/>
                </a:solidFill>
                <a:latin typeface="Cambria"/>
              </a:rPr>
              <a:t>Beauty Bakerie</a:t>
            </a:r>
          </a:p>
        </p:txBody>
      </p:sp>
      <p:sp>
        <p:nvSpPr>
          <p:cNvPr id="4" name="TextBox 3"/>
          <p:cNvSpPr txBox="1"/>
          <p:nvPr/>
        </p:nvSpPr>
        <p:spPr>
          <a:xfrm>
            <a:off x="640080" y="3200400"/>
            <a:ext cx="6035040" cy="2194560"/>
          </a:xfrm>
          <a:prstGeom prst="rect">
            <a:avLst/>
          </a:prstGeom>
          <a:noFill/>
        </p:spPr>
        <p:txBody>
          <a:bodyPr wrap="square" anchor="t" lIns="0" rIns="0" tIns="0" bIns="0">
            <a:spAutoFit/>
          </a:bodyPr>
          <a:lstStyle/>
          <a:p>
            <a:pPr algn="l">
              <a:lnSpc>
                <a:spcPct val="115000"/>
              </a:lnSpc>
            </a:pPr>
            <a:r>
              <a:rPr sz="2000" b="0" i="1">
                <a:solidFill>
                  <a:srgbClr val="CADCFC"/>
                </a:solidFill>
                <a:latin typeface="Calibri"/>
              </a:rPr>
              <a:t>Turn Beauty Bakerie’s viral momentum into predictable, scalable revenue by unifying your sales operations and proving the true ROI of your creator partnerships.</a:t>
            </a:r>
          </a:p>
        </p:txBody>
      </p:sp>
      <p:sp>
        <p:nvSpPr>
          <p:cNvPr id="5" name="Rounded Rectangle 4"/>
          <p:cNvSpPr/>
          <p:nvPr/>
        </p:nvSpPr>
        <p:spPr>
          <a:xfrm>
            <a:off x="6888175" y="1463040"/>
            <a:ext cx="4754880" cy="3931920"/>
          </a:xfrm>
          <a:prstGeom prst="roundRect">
            <a:avLst/>
          </a:prstGeom>
          <a:solidFill>
            <a:srgbClr val="028090"/>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640080" y="502920"/>
            <a:ext cx="10058400" cy="731520"/>
          </a:xfrm>
          <a:prstGeom prst="rect">
            <a:avLst/>
          </a:prstGeom>
          <a:noFill/>
        </p:spPr>
        <p:txBody>
          <a:bodyPr wrap="square" anchor="t" lIns="0" rIns="0" tIns="0" bIns="0">
            <a:spAutoFit/>
          </a:bodyPr>
          <a:lstStyle/>
          <a:p>
            <a:pPr algn="l">
              <a:lnSpc>
                <a:spcPct val="105000"/>
              </a:lnSpc>
            </a:pPr>
            <a:r>
              <a:rPr sz="3800" b="1" i="0">
                <a:solidFill>
                  <a:srgbClr val="1A2B32"/>
                </a:solidFill>
                <a:latin typeface="Cambria"/>
              </a:rPr>
              <a:t>The Landscape</a:t>
            </a:r>
          </a:p>
        </p:txBody>
      </p:sp>
      <p:sp>
        <p:nvSpPr>
          <p:cNvPr id="3" name="TextBox 2"/>
          <p:cNvSpPr txBox="1"/>
          <p:nvPr/>
        </p:nvSpPr>
        <p:spPr>
          <a:xfrm>
            <a:off x="640080" y="1554480"/>
            <a:ext cx="6400800" cy="365760"/>
          </a:xfrm>
          <a:prstGeom prst="rect">
            <a:avLst/>
          </a:prstGeom>
          <a:noFill/>
        </p:spPr>
        <p:txBody>
          <a:bodyPr wrap="square" anchor="t" lIns="0" rIns="0" tIns="0" bIns="0">
            <a:spAutoFit/>
          </a:bodyPr>
          <a:lstStyle/>
          <a:p>
            <a:pPr algn="l">
              <a:lnSpc>
                <a:spcPct val="105000"/>
              </a:lnSpc>
            </a:pPr>
            <a:r>
              <a:rPr sz="1400" b="1" i="0">
                <a:solidFill>
                  <a:srgbClr val="028090"/>
                </a:solidFill>
                <a:latin typeface="Calibri"/>
              </a:rPr>
              <a:t>WHO THEY ARE</a:t>
            </a:r>
          </a:p>
        </p:txBody>
      </p:sp>
      <p:sp>
        <p:nvSpPr>
          <p:cNvPr id="4" name="TextBox 3"/>
          <p:cNvSpPr txBox="1"/>
          <p:nvPr/>
        </p:nvSpPr>
        <p:spPr>
          <a:xfrm>
            <a:off x="640080" y="1965960"/>
            <a:ext cx="6400800" cy="1554480"/>
          </a:xfrm>
          <a:prstGeom prst="rect">
            <a:avLst/>
          </a:prstGeom>
          <a:noFill/>
        </p:spPr>
        <p:txBody>
          <a:bodyPr wrap="square" anchor="t" lIns="0" rIns="0" tIns="0" bIns="0">
            <a:spAutoFit/>
          </a:bodyPr>
          <a:lstStyle/>
          <a:p>
            <a:pPr algn="l">
              <a:lnSpc>
                <a:spcPct val="120000"/>
              </a:lnSpc>
            </a:pPr>
            <a:r>
              <a:rPr sz="1500" b="0" i="0">
                <a:solidFill>
                  <a:srgbClr val="1A2B32"/>
                </a:solidFill>
                <a:latin typeface="Calibri"/>
              </a:rPr>
              <a:t>A viral-driven, inclusive beauty brand founded by Chelsea Farley, known for high-performance makeup and strong community engagement rooted in authenticity and humor.</a:t>
            </a:r>
          </a:p>
        </p:txBody>
      </p:sp>
      <p:sp>
        <p:nvSpPr>
          <p:cNvPr id="5" name="TextBox 4"/>
          <p:cNvSpPr txBox="1"/>
          <p:nvPr/>
        </p:nvSpPr>
        <p:spPr>
          <a:xfrm>
            <a:off x="640080" y="3703320"/>
            <a:ext cx="6400800" cy="365760"/>
          </a:xfrm>
          <a:prstGeom prst="rect">
            <a:avLst/>
          </a:prstGeom>
          <a:noFill/>
        </p:spPr>
        <p:txBody>
          <a:bodyPr wrap="square" anchor="t" lIns="0" rIns="0" tIns="0" bIns="0">
            <a:spAutoFit/>
          </a:bodyPr>
          <a:lstStyle/>
          <a:p>
            <a:pPr algn="l">
              <a:lnSpc>
                <a:spcPct val="105000"/>
              </a:lnSpc>
            </a:pPr>
            <a:r>
              <a:rPr sz="1400" b="1" i="0">
                <a:solidFill>
                  <a:srgbClr val="028090"/>
                </a:solidFill>
                <a:latin typeface="Calibri"/>
              </a:rPr>
              <a:t>COMPETITIVE POSITION</a:t>
            </a:r>
          </a:p>
        </p:txBody>
      </p:sp>
      <p:sp>
        <p:nvSpPr>
          <p:cNvPr id="6" name="TextBox 5"/>
          <p:cNvSpPr txBox="1"/>
          <p:nvPr/>
        </p:nvSpPr>
        <p:spPr>
          <a:xfrm>
            <a:off x="640080" y="4114800"/>
            <a:ext cx="6400800" cy="2011680"/>
          </a:xfrm>
          <a:prstGeom prst="rect">
            <a:avLst/>
          </a:prstGeom>
          <a:noFill/>
        </p:spPr>
        <p:txBody>
          <a:bodyPr wrap="square" anchor="t" lIns="0" rIns="0" tIns="0" bIns="0">
            <a:spAutoFit/>
          </a:bodyPr>
          <a:lstStyle/>
          <a:p>
            <a:pPr algn="l">
              <a:lnSpc>
                <a:spcPct val="120000"/>
              </a:lnSpc>
            </a:pPr>
            <a:r>
              <a:rPr sz="1500" b="0" i="0">
                <a:solidFill>
                  <a:srgbClr val="1A2B32"/>
                </a:solidFill>
                <a:latin typeface="Calibri"/>
              </a:rPr>
              <a:t>Strong D2C brand equity with high social media visibility, but faces intense competition from established giants and agile indie brands. Relies heavily on organic influencer momentum rather than systematic, scalable attribution.</a:t>
            </a:r>
          </a:p>
        </p:txBody>
      </p:sp>
      <p:sp>
        <p:nvSpPr>
          <p:cNvPr id="7" name="TextBox 6"/>
          <p:cNvSpPr txBox="1"/>
          <p:nvPr/>
        </p:nvSpPr>
        <p:spPr>
          <a:xfrm>
            <a:off x="7498079" y="1554480"/>
            <a:ext cx="4023360" cy="365760"/>
          </a:xfrm>
          <a:prstGeom prst="rect">
            <a:avLst/>
          </a:prstGeom>
          <a:noFill/>
        </p:spPr>
        <p:txBody>
          <a:bodyPr wrap="square" anchor="t" lIns="0" rIns="0" tIns="0" bIns="0">
            <a:spAutoFit/>
          </a:bodyPr>
          <a:lstStyle/>
          <a:p>
            <a:pPr algn="l">
              <a:lnSpc>
                <a:spcPct val="105000"/>
              </a:lnSpc>
            </a:pPr>
            <a:r>
              <a:rPr sz="1400" b="1" i="0">
                <a:solidFill>
                  <a:srgbClr val="028090"/>
                </a:solidFill>
                <a:latin typeface="Calibri"/>
              </a:rPr>
              <a:t>KEY COMPETITORS</a:t>
            </a:r>
          </a:p>
        </p:txBody>
      </p:sp>
      <p:sp>
        <p:nvSpPr>
          <p:cNvPr id="8" name="Rounded Rectangle 7"/>
          <p:cNvSpPr/>
          <p:nvPr/>
        </p:nvSpPr>
        <p:spPr>
          <a:xfrm>
            <a:off x="7498079" y="2011680"/>
            <a:ext cx="4023360" cy="566928"/>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130552"/>
            <a:ext cx="3657600" cy="365760"/>
          </a:xfrm>
          <a:prstGeom prst="rect">
            <a:avLst/>
          </a:prstGeom>
          <a:noFill/>
        </p:spPr>
        <p:txBody>
          <a:bodyPr wrap="square" anchor="ctr" lIns="0" rIns="0" tIns="0" bIns="0">
            <a:spAutoFit/>
          </a:bodyPr>
          <a:lstStyle/>
          <a:p>
            <a:pPr algn="l">
              <a:lnSpc>
                <a:spcPct val="105000"/>
              </a:lnSpc>
            </a:pPr>
            <a:r>
              <a:rPr sz="1400" b="1" i="0">
                <a:solidFill>
                  <a:srgbClr val="1A2B32"/>
                </a:solidFill>
                <a:latin typeface="Calibri"/>
              </a:rPr>
              <a:t>Fenty Beauty</a:t>
            </a:r>
          </a:p>
        </p:txBody>
      </p:sp>
      <p:sp>
        <p:nvSpPr>
          <p:cNvPr id="10" name="Rounded Rectangle 9"/>
          <p:cNvSpPr/>
          <p:nvPr/>
        </p:nvSpPr>
        <p:spPr>
          <a:xfrm>
            <a:off x="7498079" y="2724912"/>
            <a:ext cx="4023360" cy="566928"/>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2843784"/>
            <a:ext cx="3657600" cy="365760"/>
          </a:xfrm>
          <a:prstGeom prst="rect">
            <a:avLst/>
          </a:prstGeom>
          <a:noFill/>
        </p:spPr>
        <p:txBody>
          <a:bodyPr wrap="square" anchor="ctr" lIns="0" rIns="0" tIns="0" bIns="0">
            <a:spAutoFit/>
          </a:bodyPr>
          <a:lstStyle/>
          <a:p>
            <a:pPr algn="l">
              <a:lnSpc>
                <a:spcPct val="105000"/>
              </a:lnSpc>
            </a:pPr>
            <a:r>
              <a:rPr sz="1400" b="1" i="0">
                <a:solidFill>
                  <a:srgbClr val="1A2B32"/>
                </a:solidFill>
                <a:latin typeface="Calibri"/>
              </a:rPr>
              <a:t>Rare Beauty</a:t>
            </a:r>
          </a:p>
        </p:txBody>
      </p:sp>
      <p:sp>
        <p:nvSpPr>
          <p:cNvPr id="12" name="Rounded Rectangle 11"/>
          <p:cNvSpPr/>
          <p:nvPr/>
        </p:nvSpPr>
        <p:spPr>
          <a:xfrm>
            <a:off x="7498079" y="3438144"/>
            <a:ext cx="4023360" cy="566928"/>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79" y="3557016"/>
            <a:ext cx="3657600" cy="365760"/>
          </a:xfrm>
          <a:prstGeom prst="rect">
            <a:avLst/>
          </a:prstGeom>
          <a:noFill/>
        </p:spPr>
        <p:txBody>
          <a:bodyPr wrap="square" anchor="ctr" lIns="0" rIns="0" tIns="0" bIns="0">
            <a:spAutoFit/>
          </a:bodyPr>
          <a:lstStyle/>
          <a:p>
            <a:pPr algn="l">
              <a:lnSpc>
                <a:spcPct val="105000"/>
              </a:lnSpc>
            </a:pPr>
            <a:r>
              <a:rPr sz="1400" b="1" i="0">
                <a:solidFill>
                  <a:srgbClr val="1A2B32"/>
                </a:solidFill>
                <a:latin typeface="Calibri"/>
              </a:rPr>
              <a:t>Morphe</a:t>
            </a:r>
          </a:p>
        </p:txBody>
      </p:sp>
      <p:sp>
        <p:nvSpPr>
          <p:cNvPr id="14" name="Rounded Rectangle 13"/>
          <p:cNvSpPr/>
          <p:nvPr/>
        </p:nvSpPr>
        <p:spPr>
          <a:xfrm>
            <a:off x="7498079" y="4151376"/>
            <a:ext cx="4023360" cy="566928"/>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270248"/>
            <a:ext cx="3657600" cy="365760"/>
          </a:xfrm>
          <a:prstGeom prst="rect">
            <a:avLst/>
          </a:prstGeom>
          <a:noFill/>
        </p:spPr>
        <p:txBody>
          <a:bodyPr wrap="square" anchor="ctr" lIns="0" rIns="0" tIns="0" bIns="0">
            <a:spAutoFit/>
          </a:bodyPr>
          <a:lstStyle/>
          <a:p>
            <a:pPr algn="l">
              <a:lnSpc>
                <a:spcPct val="105000"/>
              </a:lnSpc>
            </a:pPr>
            <a:r>
              <a:rPr sz="1400" b="1" i="0">
                <a:solidFill>
                  <a:srgbClr val="1A2B32"/>
                </a:solidFill>
                <a:latin typeface="Calibri"/>
              </a:rPr>
              <a:t>ColourPop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640080" y="502920"/>
            <a:ext cx="10058400" cy="731520"/>
          </a:xfrm>
          <a:prstGeom prst="rect">
            <a:avLst/>
          </a:prstGeom>
          <a:noFill/>
        </p:spPr>
        <p:txBody>
          <a:bodyPr wrap="square" anchor="t" lIns="0" rIns="0" tIns="0" bIns="0">
            <a:spAutoFit/>
          </a:bodyPr>
          <a:lstStyle/>
          <a:p>
            <a:pPr algn="l">
              <a:lnSpc>
                <a:spcPct val="105000"/>
              </a:lnSpc>
            </a:pPr>
            <a:r>
              <a:rPr sz="3600" b="1" i="0">
                <a:solidFill>
                  <a:srgbClr val="1A2B32"/>
                </a:solidFill>
                <a:latin typeface="Cambria"/>
              </a:rPr>
              <a:t>Where They're Losing Ground</a:t>
            </a:r>
          </a:p>
        </p:txBody>
      </p:sp>
      <p:sp>
        <p:nvSpPr>
          <p:cNvPr id="3" name="Rounded Rectangle 2"/>
          <p:cNvSpPr/>
          <p:nvPr/>
        </p:nvSpPr>
        <p:spPr>
          <a:xfrm>
            <a:off x="640080" y="1554480"/>
            <a:ext cx="3529584" cy="4206240"/>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828800"/>
            <a:ext cx="1371600" cy="384048"/>
          </a:xfrm>
          <a:prstGeom prst="roundRect">
            <a:avLst/>
          </a:prstGeom>
          <a:solidFill>
            <a:srgbClr val="D74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HIGH</a:t>
            </a:r>
          </a:p>
        </p:txBody>
      </p:sp>
      <p:sp>
        <p:nvSpPr>
          <p:cNvPr id="5" name="TextBox 4"/>
          <p:cNvSpPr txBox="1"/>
          <p:nvPr/>
        </p:nvSpPr>
        <p:spPr>
          <a:xfrm>
            <a:off x="914400" y="2423160"/>
            <a:ext cx="2980944" cy="1280160"/>
          </a:xfrm>
          <a:prstGeom prst="rect">
            <a:avLst/>
          </a:prstGeom>
          <a:noFill/>
        </p:spPr>
        <p:txBody>
          <a:bodyPr wrap="square" anchor="t" lIns="0" rIns="0" tIns="0" bIns="0">
            <a:spAutoFit/>
          </a:bodyPr>
          <a:lstStyle/>
          <a:p>
            <a:pPr algn="l">
              <a:lnSpc>
                <a:spcPct val="110000"/>
              </a:lnSpc>
            </a:pPr>
            <a:r>
              <a:rPr sz="1800" b="1" i="0">
                <a:solidFill>
                  <a:srgbClr val="1A2B32"/>
                </a:solidFill>
                <a:latin typeface="Cambria"/>
              </a:rPr>
              <a:t>Fragmented sales operations across multiple marketplaces and lack of centralized inventor…</a:t>
            </a:r>
          </a:p>
        </p:txBody>
      </p:sp>
      <p:sp>
        <p:nvSpPr>
          <p:cNvPr id="6" name="TextBox 5"/>
          <p:cNvSpPr txBox="1"/>
          <p:nvPr/>
        </p:nvSpPr>
        <p:spPr>
          <a:xfrm>
            <a:off x="914400" y="3749039"/>
            <a:ext cx="2980944" cy="1828800"/>
          </a:xfrm>
          <a:prstGeom prst="rect">
            <a:avLst/>
          </a:prstGeom>
          <a:noFill/>
        </p:spPr>
        <p:txBody>
          <a:bodyPr wrap="square" anchor="t" lIns="0" rIns="0" tIns="0" bIns="0">
            <a:spAutoFit/>
          </a:bodyPr>
          <a:lstStyle/>
          <a:p>
            <a:pPr algn="l">
              <a:lnSpc>
                <a:spcPct val="118000"/>
              </a:lnSpc>
            </a:pPr>
            <a:r>
              <a:rPr sz="1300" b="0" i="0">
                <a:solidFill>
                  <a:srgbClr val="6B7C85"/>
                </a:solidFill>
                <a:latin typeface="Calibri"/>
              </a:rPr>
              <a:t>Scaling requires seamless omnichannel presence; siloed operations lead to stockouts, overselling, and poor customer experience.</a:t>
            </a:r>
          </a:p>
        </p:txBody>
      </p:sp>
      <p:sp>
        <p:nvSpPr>
          <p:cNvPr id="7" name="Rounded Rectangle 6"/>
          <p:cNvSpPr/>
          <p:nvPr/>
        </p:nvSpPr>
        <p:spPr>
          <a:xfrm>
            <a:off x="4334256" y="1554480"/>
            <a:ext cx="3529584" cy="4206240"/>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08576" y="1828800"/>
            <a:ext cx="1371600" cy="384048"/>
          </a:xfrm>
          <a:prstGeom prst="roundRect">
            <a:avLst/>
          </a:prstGeom>
          <a:solidFill>
            <a:srgbClr val="D74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HIGH</a:t>
            </a:r>
          </a:p>
        </p:txBody>
      </p:sp>
      <p:sp>
        <p:nvSpPr>
          <p:cNvPr id="9" name="TextBox 8"/>
          <p:cNvSpPr txBox="1"/>
          <p:nvPr/>
        </p:nvSpPr>
        <p:spPr>
          <a:xfrm>
            <a:off x="4608576" y="2423160"/>
            <a:ext cx="2980944" cy="1280160"/>
          </a:xfrm>
          <a:prstGeom prst="rect">
            <a:avLst/>
          </a:prstGeom>
          <a:noFill/>
        </p:spPr>
        <p:txBody>
          <a:bodyPr wrap="square" anchor="t" lIns="0" rIns="0" tIns="0" bIns="0">
            <a:spAutoFit/>
          </a:bodyPr>
          <a:lstStyle/>
          <a:p>
            <a:pPr algn="l">
              <a:lnSpc>
                <a:spcPct val="110000"/>
              </a:lnSpc>
            </a:pPr>
            <a:r>
              <a:rPr sz="1800" b="1" i="0">
                <a:solidFill>
                  <a:srgbClr val="1A2B32"/>
                </a:solidFill>
                <a:latin typeface="Cambria"/>
              </a:rPr>
              <a:t>Inefficient influencer campaign measurement and attribution</a:t>
            </a:r>
          </a:p>
        </p:txBody>
      </p:sp>
      <p:sp>
        <p:nvSpPr>
          <p:cNvPr id="10" name="TextBox 9"/>
          <p:cNvSpPr txBox="1"/>
          <p:nvPr/>
        </p:nvSpPr>
        <p:spPr>
          <a:xfrm>
            <a:off x="4608576" y="3749039"/>
            <a:ext cx="2980944" cy="1828800"/>
          </a:xfrm>
          <a:prstGeom prst="rect">
            <a:avLst/>
          </a:prstGeom>
          <a:noFill/>
        </p:spPr>
        <p:txBody>
          <a:bodyPr wrap="square" anchor="t" lIns="0" rIns="0" tIns="0" bIns="0">
            <a:spAutoFit/>
          </a:bodyPr>
          <a:lstStyle/>
          <a:p>
            <a:pPr algn="l">
              <a:lnSpc>
                <a:spcPct val="118000"/>
              </a:lnSpc>
            </a:pPr>
            <a:r>
              <a:rPr sz="1300" b="0" i="0">
                <a:solidFill>
                  <a:srgbClr val="6B7C85"/>
                </a:solidFill>
                <a:latin typeface="Calibri"/>
              </a:rPr>
              <a:t>Beauty relies on creator trust; without precise tracking, ROI on influencer spend is opaque, limiting budget optimization.</a:t>
            </a:r>
          </a:p>
        </p:txBody>
      </p:sp>
      <p:sp>
        <p:nvSpPr>
          <p:cNvPr id="11" name="Rounded Rectangle 10"/>
          <p:cNvSpPr/>
          <p:nvPr/>
        </p:nvSpPr>
        <p:spPr>
          <a:xfrm>
            <a:off x="8028432" y="1554480"/>
            <a:ext cx="3529584" cy="4206240"/>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302752" y="1828800"/>
            <a:ext cx="1371600" cy="384048"/>
          </a:xfrm>
          <a:prstGeom prst="roundRect">
            <a:avLst/>
          </a:prstGeom>
          <a:solidFill>
            <a:srgbClr val="E09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MEDIUM</a:t>
            </a:r>
          </a:p>
        </p:txBody>
      </p:sp>
      <p:sp>
        <p:nvSpPr>
          <p:cNvPr id="13" name="TextBox 12"/>
          <p:cNvSpPr txBox="1"/>
          <p:nvPr/>
        </p:nvSpPr>
        <p:spPr>
          <a:xfrm>
            <a:off x="8302752" y="2423160"/>
            <a:ext cx="2980944" cy="1280160"/>
          </a:xfrm>
          <a:prstGeom prst="rect">
            <a:avLst/>
          </a:prstGeom>
          <a:noFill/>
        </p:spPr>
        <p:txBody>
          <a:bodyPr wrap="square" anchor="t" lIns="0" rIns="0" tIns="0" bIns="0">
            <a:spAutoFit/>
          </a:bodyPr>
          <a:lstStyle/>
          <a:p>
            <a:pPr algn="l">
              <a:lnSpc>
                <a:spcPct val="110000"/>
              </a:lnSpc>
            </a:pPr>
            <a:r>
              <a:rPr sz="1800" b="1" i="0">
                <a:solidFill>
                  <a:srgbClr val="1A2B32"/>
                </a:solidFill>
                <a:latin typeface="Cambria"/>
              </a:rPr>
              <a:t>Limited paid media optimization capabilities outside of organic reach</a:t>
            </a:r>
          </a:p>
        </p:txBody>
      </p:sp>
      <p:sp>
        <p:nvSpPr>
          <p:cNvPr id="14" name="TextBox 13"/>
          <p:cNvSpPr txBox="1"/>
          <p:nvPr/>
        </p:nvSpPr>
        <p:spPr>
          <a:xfrm>
            <a:off x="8302752" y="3749039"/>
            <a:ext cx="2980944" cy="1828800"/>
          </a:xfrm>
          <a:prstGeom prst="rect">
            <a:avLst/>
          </a:prstGeom>
          <a:noFill/>
        </p:spPr>
        <p:txBody>
          <a:bodyPr wrap="square" anchor="t" lIns="0" rIns="0" tIns="0" bIns="0">
            <a:spAutoFit/>
          </a:bodyPr>
          <a:lstStyle/>
          <a:p>
            <a:pPr algn="l">
              <a:lnSpc>
                <a:spcPct val="118000"/>
              </a:lnSpc>
            </a:pPr>
            <a:r>
              <a:rPr sz="1300" b="0" i="0">
                <a:solidFill>
                  <a:srgbClr val="6B7C85"/>
                </a:solidFill>
                <a:latin typeface="Calibri"/>
              </a:rPr>
              <a:t>To sustain growth beyond viral spikes, the brand needs data-driven paid acquisition to capture intent-based shoppers.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640080" y="502920"/>
            <a:ext cx="10058400" cy="731520"/>
          </a:xfrm>
          <a:prstGeom prst="rect">
            <a:avLst/>
          </a:prstGeom>
          <a:noFill/>
        </p:spPr>
        <p:txBody>
          <a:bodyPr wrap="square" anchor="t" lIns="0" rIns="0" tIns="0" bIns="0">
            <a:spAutoFit/>
          </a:bodyPr>
          <a:lstStyle/>
          <a:p>
            <a:pPr algn="l">
              <a:lnSpc>
                <a:spcPct val="105000"/>
              </a:lnSpc>
            </a:pPr>
            <a:r>
              <a:rPr sz="3600" b="1" i="0">
                <a:solidFill>
                  <a:srgbClr val="1A2B32"/>
                </a:solidFill>
                <a:latin typeface="Cambria"/>
              </a:rPr>
              <a:t>How AnyMind Closes the Gaps</a:t>
            </a:r>
          </a:p>
        </p:txBody>
      </p:sp>
      <p:sp>
        <p:nvSpPr>
          <p:cNvPr id="3" name="Rounded Rectangle 2"/>
          <p:cNvSpPr/>
          <p:nvPr/>
        </p:nvSpPr>
        <p:spPr>
          <a:xfrm>
            <a:off x="640080" y="1554480"/>
            <a:ext cx="10881360" cy="1078992"/>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68680" y="1865376"/>
            <a:ext cx="1417320" cy="457200"/>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AnyX</a:t>
            </a:r>
          </a:p>
        </p:txBody>
      </p:sp>
      <p:sp>
        <p:nvSpPr>
          <p:cNvPr id="5" name="TextBox 4"/>
          <p:cNvSpPr txBox="1"/>
          <p:nvPr/>
        </p:nvSpPr>
        <p:spPr>
          <a:xfrm>
            <a:off x="2514600" y="1700784"/>
            <a:ext cx="2468880" cy="822960"/>
          </a:xfrm>
          <a:prstGeom prst="rect">
            <a:avLst/>
          </a:prstGeom>
          <a:noFill/>
        </p:spPr>
        <p:txBody>
          <a:bodyPr wrap="square" anchor="ctr" lIns="0" rIns="0" tIns="0" bIns="0">
            <a:spAutoFit/>
          </a:bodyPr>
          <a:lstStyle/>
          <a:p>
            <a:pPr algn="l">
              <a:lnSpc>
                <a:spcPct val="105000"/>
              </a:lnSpc>
            </a:pPr>
            <a:r>
              <a:rPr sz="1300" b="1" i="0">
                <a:solidFill>
                  <a:srgbClr val="028090"/>
                </a:solidFill>
                <a:latin typeface="Calibri"/>
              </a:rPr>
              <a:t>Fragmented sales operations across multiple marketplaces an…</a:t>
            </a:r>
          </a:p>
        </p:txBody>
      </p:sp>
      <p:sp>
        <p:nvSpPr>
          <p:cNvPr id="6" name="TextBox 5"/>
          <p:cNvSpPr txBox="1"/>
          <p:nvPr/>
        </p:nvSpPr>
        <p:spPr>
          <a:xfrm>
            <a:off x="5212080" y="1700784"/>
            <a:ext cx="6126480" cy="822960"/>
          </a:xfrm>
          <a:prstGeom prst="rect">
            <a:avLst/>
          </a:prstGeom>
          <a:noFill/>
        </p:spPr>
        <p:txBody>
          <a:bodyPr wrap="square" anchor="ctr" lIns="0" rIns="0" tIns="0" bIns="0">
            <a:spAutoFit/>
          </a:bodyPr>
          <a:lstStyle/>
          <a:p>
            <a:pPr algn="l">
              <a:lnSpc>
                <a:spcPct val="110000"/>
              </a:lnSpc>
            </a:pPr>
            <a:r>
              <a:rPr sz="1300" b="0" i="0">
                <a:solidFill>
                  <a:srgbClr val="1A2B32"/>
                </a:solidFill>
                <a:latin typeface="Calibri"/>
              </a:rPr>
              <a:t>Centralizes sales data across Amazon, Sephora, and D2C channels, enabling unified inventory management and streamlined order fulfillment.</a:t>
            </a:r>
          </a:p>
        </p:txBody>
      </p:sp>
      <p:sp>
        <p:nvSpPr>
          <p:cNvPr id="7" name="Rounded Rectangle 6"/>
          <p:cNvSpPr/>
          <p:nvPr/>
        </p:nvSpPr>
        <p:spPr>
          <a:xfrm>
            <a:off x="640080" y="2779776"/>
            <a:ext cx="10881360" cy="1078992"/>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3090672"/>
            <a:ext cx="1417320" cy="457200"/>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AnyTag</a:t>
            </a:r>
          </a:p>
        </p:txBody>
      </p:sp>
      <p:sp>
        <p:nvSpPr>
          <p:cNvPr id="9" name="TextBox 8"/>
          <p:cNvSpPr txBox="1"/>
          <p:nvPr/>
        </p:nvSpPr>
        <p:spPr>
          <a:xfrm>
            <a:off x="2514600" y="2926080"/>
            <a:ext cx="2468880" cy="822960"/>
          </a:xfrm>
          <a:prstGeom prst="rect">
            <a:avLst/>
          </a:prstGeom>
          <a:noFill/>
        </p:spPr>
        <p:txBody>
          <a:bodyPr wrap="square" anchor="ctr" lIns="0" rIns="0" tIns="0" bIns="0">
            <a:spAutoFit/>
          </a:bodyPr>
          <a:lstStyle/>
          <a:p>
            <a:pPr algn="l">
              <a:lnSpc>
                <a:spcPct val="105000"/>
              </a:lnSpc>
            </a:pPr>
            <a:r>
              <a:rPr sz="1300" b="1" i="0">
                <a:solidFill>
                  <a:srgbClr val="028090"/>
                </a:solidFill>
                <a:latin typeface="Calibri"/>
              </a:rPr>
              <a:t>Inefficient influencer campaign measurement and attribution</a:t>
            </a:r>
          </a:p>
        </p:txBody>
      </p:sp>
      <p:sp>
        <p:nvSpPr>
          <p:cNvPr id="10" name="TextBox 9"/>
          <p:cNvSpPr txBox="1"/>
          <p:nvPr/>
        </p:nvSpPr>
        <p:spPr>
          <a:xfrm>
            <a:off x="5212080" y="2926080"/>
            <a:ext cx="6126480" cy="822960"/>
          </a:xfrm>
          <a:prstGeom prst="rect">
            <a:avLst/>
          </a:prstGeom>
          <a:noFill/>
        </p:spPr>
        <p:txBody>
          <a:bodyPr wrap="square" anchor="ctr" lIns="0" rIns="0" tIns="0" bIns="0">
            <a:spAutoFit/>
          </a:bodyPr>
          <a:lstStyle/>
          <a:p>
            <a:pPr algn="l">
              <a:lnSpc>
                <a:spcPct val="110000"/>
              </a:lnSpc>
            </a:pPr>
            <a:r>
              <a:rPr sz="1300" b="0" i="0">
                <a:solidFill>
                  <a:srgbClr val="1A2B32"/>
                </a:solidFill>
                <a:latin typeface="Calibri"/>
              </a:rPr>
              <a:t>Provides end-to-end tracking and attribution for influencer campaigns across APAC and global markets, quantifying direct sales impact from creator content.</a:t>
            </a:r>
          </a:p>
        </p:txBody>
      </p:sp>
      <p:sp>
        <p:nvSpPr>
          <p:cNvPr id="11" name="Rounded Rectangle 10"/>
          <p:cNvSpPr/>
          <p:nvPr/>
        </p:nvSpPr>
        <p:spPr>
          <a:xfrm>
            <a:off x="640080" y="4005072"/>
            <a:ext cx="10881360" cy="1078992"/>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4315968"/>
            <a:ext cx="1417320" cy="457200"/>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Calibri"/>
              </a:rPr>
              <a:t>AnyDigital</a:t>
            </a:r>
          </a:p>
        </p:txBody>
      </p:sp>
      <p:sp>
        <p:nvSpPr>
          <p:cNvPr id="13" name="TextBox 12"/>
          <p:cNvSpPr txBox="1"/>
          <p:nvPr/>
        </p:nvSpPr>
        <p:spPr>
          <a:xfrm>
            <a:off x="2514600" y="4151376"/>
            <a:ext cx="2468880" cy="822960"/>
          </a:xfrm>
          <a:prstGeom prst="rect">
            <a:avLst/>
          </a:prstGeom>
          <a:noFill/>
        </p:spPr>
        <p:txBody>
          <a:bodyPr wrap="square" anchor="ctr" lIns="0" rIns="0" tIns="0" bIns="0">
            <a:spAutoFit/>
          </a:bodyPr>
          <a:lstStyle/>
          <a:p>
            <a:pPr algn="l">
              <a:lnSpc>
                <a:spcPct val="105000"/>
              </a:lnSpc>
            </a:pPr>
            <a:r>
              <a:rPr sz="1300" b="1" i="0">
                <a:solidFill>
                  <a:srgbClr val="028090"/>
                </a:solidFill>
                <a:latin typeface="Calibri"/>
              </a:rPr>
              <a:t>Limited paid media optimization capabilities outside of org…</a:t>
            </a:r>
          </a:p>
        </p:txBody>
      </p:sp>
      <p:sp>
        <p:nvSpPr>
          <p:cNvPr id="14" name="TextBox 13"/>
          <p:cNvSpPr txBox="1"/>
          <p:nvPr/>
        </p:nvSpPr>
        <p:spPr>
          <a:xfrm>
            <a:off x="5212080" y="4151376"/>
            <a:ext cx="6126480" cy="822960"/>
          </a:xfrm>
          <a:prstGeom prst="rect">
            <a:avLst/>
          </a:prstGeom>
          <a:noFill/>
        </p:spPr>
        <p:txBody>
          <a:bodyPr wrap="square" anchor="ctr" lIns="0" rIns="0" tIns="0" bIns="0">
            <a:spAutoFit/>
          </a:bodyPr>
          <a:lstStyle/>
          <a:p>
            <a:pPr algn="l">
              <a:lnSpc>
                <a:spcPct val="110000"/>
              </a:lnSpc>
            </a:pPr>
            <a:r>
              <a:rPr sz="1300" b="0" i="0">
                <a:solidFill>
                  <a:srgbClr val="1A2B32"/>
                </a:solidFill>
                <a:latin typeface="Calibri"/>
              </a:rPr>
              <a:t>Optimizes paid ad spend across social and search platforms, leveraging first-party data from AnyX and AnyTag to improve ROAS and customer acquisition costs.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640080" y="502920"/>
            <a:ext cx="10058400" cy="731520"/>
          </a:xfrm>
          <a:prstGeom prst="rect">
            <a:avLst/>
          </a:prstGeom>
          <a:noFill/>
        </p:spPr>
        <p:txBody>
          <a:bodyPr wrap="square" anchor="t" lIns="0" rIns="0" tIns="0" bIns="0">
            <a:spAutoFit/>
          </a:bodyPr>
          <a:lstStyle/>
          <a:p>
            <a:pPr algn="l">
              <a:lnSpc>
                <a:spcPct val="105000"/>
              </a:lnSpc>
            </a:pPr>
            <a:r>
              <a:rPr sz="3800" b="1" i="0">
                <a:solidFill>
                  <a:srgbClr val="1A2B32"/>
                </a:solidFill>
                <a:latin typeface="Cambria"/>
              </a:rPr>
              <a:t>Projected Impact</a:t>
            </a:r>
          </a:p>
        </p:txBody>
      </p:sp>
      <p:sp>
        <p:nvSpPr>
          <p:cNvPr id="3" name="Rounded Rectangle 2"/>
          <p:cNvSpPr/>
          <p:nvPr/>
        </p:nvSpPr>
        <p:spPr>
          <a:xfrm>
            <a:off x="640080" y="1645920"/>
            <a:ext cx="3529584" cy="3931920"/>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2057400"/>
            <a:ext cx="3163824" cy="1371600"/>
          </a:xfrm>
          <a:prstGeom prst="rect">
            <a:avLst/>
          </a:prstGeom>
          <a:noFill/>
        </p:spPr>
        <p:txBody>
          <a:bodyPr wrap="square" anchor="ctr" lIns="0" rIns="0" tIns="0" bIns="0">
            <a:spAutoFit/>
          </a:bodyPr>
          <a:lstStyle/>
          <a:p>
            <a:pPr algn="ctr">
              <a:lnSpc>
                <a:spcPct val="105000"/>
              </a:lnSpc>
            </a:pPr>
            <a:r>
              <a:rPr sz="5000" b="1" i="0">
                <a:solidFill>
                  <a:srgbClr val="028090"/>
                </a:solidFill>
                <a:latin typeface="Cambria"/>
              </a:rPr>
              <a:t>15%–30%</a:t>
            </a:r>
          </a:p>
        </p:txBody>
      </p:sp>
      <p:sp>
        <p:nvSpPr>
          <p:cNvPr id="5" name="TextBox 4"/>
          <p:cNvSpPr txBox="1"/>
          <p:nvPr/>
        </p:nvSpPr>
        <p:spPr>
          <a:xfrm>
            <a:off x="914400" y="3657600"/>
            <a:ext cx="2980944" cy="457200"/>
          </a:xfrm>
          <a:prstGeom prst="rect">
            <a:avLst/>
          </a:prstGeom>
          <a:noFill/>
        </p:spPr>
        <p:txBody>
          <a:bodyPr wrap="square" anchor="t" lIns="0" rIns="0" tIns="0" bIns="0">
            <a:spAutoFit/>
          </a:bodyPr>
          <a:lstStyle/>
          <a:p>
            <a:pPr algn="ctr">
              <a:lnSpc>
                <a:spcPct val="105000"/>
              </a:lnSpc>
            </a:pPr>
            <a:r>
              <a:rPr sz="1600" b="1" i="0">
                <a:solidFill>
                  <a:srgbClr val="1A2B32"/>
                </a:solidFill>
                <a:latin typeface="Calibri"/>
              </a:rPr>
              <a:t>Revenue / profit uplift</a:t>
            </a:r>
          </a:p>
        </p:txBody>
      </p:sp>
      <p:sp>
        <p:nvSpPr>
          <p:cNvPr id="6" name="TextBox 5"/>
          <p:cNvSpPr txBox="1"/>
          <p:nvPr/>
        </p:nvSpPr>
        <p:spPr>
          <a:xfrm>
            <a:off x="914400" y="4160520"/>
            <a:ext cx="2980944" cy="1280160"/>
          </a:xfrm>
          <a:prstGeom prst="rect">
            <a:avLst/>
          </a:prstGeom>
          <a:noFill/>
        </p:spPr>
        <p:txBody>
          <a:bodyPr wrap="square" anchor="t" lIns="0" rIns="0" tIns="0" bIns="0">
            <a:spAutoFit/>
          </a:bodyPr>
          <a:lstStyle/>
          <a:p>
            <a:pPr algn="ctr">
              <a:lnSpc>
                <a:spcPct val="120000"/>
              </a:lnSpc>
            </a:pPr>
            <a:r>
              <a:rPr sz="1200" b="0" i="0">
                <a:solidFill>
                  <a:srgbClr val="6B7C85"/>
                </a:solidFill>
                <a:latin typeface="Calibri"/>
              </a:rPr>
              <a:t>Improved conversion rates from unified inventory and higher ROAS through optimized influencer and paid media attribution.  (Within 6 months)</a:t>
            </a:r>
          </a:p>
        </p:txBody>
      </p:sp>
      <p:sp>
        <p:nvSpPr>
          <p:cNvPr id="7" name="Rounded Rectangle 6"/>
          <p:cNvSpPr/>
          <p:nvPr/>
        </p:nvSpPr>
        <p:spPr>
          <a:xfrm>
            <a:off x="4334256" y="1645920"/>
            <a:ext cx="3529584" cy="3931920"/>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17136" y="2057400"/>
            <a:ext cx="3163824" cy="1371600"/>
          </a:xfrm>
          <a:prstGeom prst="rect">
            <a:avLst/>
          </a:prstGeom>
          <a:noFill/>
        </p:spPr>
        <p:txBody>
          <a:bodyPr wrap="square" anchor="ctr" lIns="0" rIns="0" tIns="0" bIns="0">
            <a:spAutoFit/>
          </a:bodyPr>
          <a:lstStyle/>
          <a:p>
            <a:pPr algn="ctr">
              <a:lnSpc>
                <a:spcPct val="105000"/>
              </a:lnSpc>
            </a:pPr>
            <a:r>
              <a:rPr sz="2800" b="1" i="0">
                <a:solidFill>
                  <a:srgbClr val="028090"/>
                </a:solidFill>
                <a:latin typeface="Cambria"/>
              </a:rPr>
              <a:t>20 hours/week–40 hours/week</a:t>
            </a:r>
          </a:p>
        </p:txBody>
      </p:sp>
      <p:sp>
        <p:nvSpPr>
          <p:cNvPr id="9" name="TextBox 8"/>
          <p:cNvSpPr txBox="1"/>
          <p:nvPr/>
        </p:nvSpPr>
        <p:spPr>
          <a:xfrm>
            <a:off x="4608576" y="3657600"/>
            <a:ext cx="2980944" cy="457200"/>
          </a:xfrm>
          <a:prstGeom prst="rect">
            <a:avLst/>
          </a:prstGeom>
          <a:noFill/>
        </p:spPr>
        <p:txBody>
          <a:bodyPr wrap="square" anchor="t" lIns="0" rIns="0" tIns="0" bIns="0">
            <a:spAutoFit/>
          </a:bodyPr>
          <a:lstStyle/>
          <a:p>
            <a:pPr algn="ctr">
              <a:lnSpc>
                <a:spcPct val="105000"/>
              </a:lnSpc>
            </a:pPr>
            <a:r>
              <a:rPr sz="1600" b="1" i="0">
                <a:solidFill>
                  <a:srgbClr val="1A2B32"/>
                </a:solidFill>
                <a:latin typeface="Calibri"/>
              </a:rPr>
              <a:t>Time / efficiency gain</a:t>
            </a:r>
          </a:p>
        </p:txBody>
      </p:sp>
      <p:sp>
        <p:nvSpPr>
          <p:cNvPr id="10" name="TextBox 9"/>
          <p:cNvSpPr txBox="1"/>
          <p:nvPr/>
        </p:nvSpPr>
        <p:spPr>
          <a:xfrm>
            <a:off x="4608576" y="4160520"/>
            <a:ext cx="2980944" cy="1280160"/>
          </a:xfrm>
          <a:prstGeom prst="rect">
            <a:avLst/>
          </a:prstGeom>
          <a:noFill/>
        </p:spPr>
        <p:txBody>
          <a:bodyPr wrap="square" anchor="t" lIns="0" rIns="0" tIns="0" bIns="0">
            <a:spAutoFit/>
          </a:bodyPr>
          <a:lstStyle/>
          <a:p>
            <a:pPr algn="ctr">
              <a:lnSpc>
                <a:spcPct val="120000"/>
              </a:lnSpc>
            </a:pPr>
            <a:r>
              <a:rPr sz="1200" b="0" i="0">
                <a:solidFill>
                  <a:srgbClr val="6B7C85"/>
                </a:solidFill>
                <a:latin typeface="Calibri"/>
              </a:rPr>
              <a:t>Manual reconciliation of sales data, influencer contract management, and cross-platform inventory checks.</a:t>
            </a:r>
          </a:p>
        </p:txBody>
      </p:sp>
      <p:sp>
        <p:nvSpPr>
          <p:cNvPr id="11" name="Rounded Rectangle 10"/>
          <p:cNvSpPr/>
          <p:nvPr/>
        </p:nvSpPr>
        <p:spPr>
          <a:xfrm>
            <a:off x="8028431" y="1645920"/>
            <a:ext cx="3529584" cy="3931920"/>
          </a:xfrm>
          <a:prstGeom prst="roundRect">
            <a:avLst/>
          </a:prstGeom>
          <a:solidFill>
            <a:srgbClr val="FFFFFF"/>
          </a:solidFill>
          <a:ln w="9525">
            <a:solidFill>
              <a:srgbClr val="E2E8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1" y="2057400"/>
            <a:ext cx="3163824" cy="1371600"/>
          </a:xfrm>
          <a:prstGeom prst="rect">
            <a:avLst/>
          </a:prstGeom>
          <a:noFill/>
        </p:spPr>
        <p:txBody>
          <a:bodyPr wrap="square" anchor="ctr" lIns="0" rIns="0" tIns="0" bIns="0">
            <a:spAutoFit/>
          </a:bodyPr>
          <a:lstStyle/>
          <a:p>
            <a:pPr algn="ctr">
              <a:lnSpc>
                <a:spcPct val="105000"/>
              </a:lnSpc>
            </a:pPr>
            <a:r>
              <a:rPr sz="5000" b="1" i="0">
                <a:solidFill>
                  <a:srgbClr val="028090"/>
                </a:solidFill>
                <a:latin typeface="Cambria"/>
              </a:rPr>
              <a:t>8 weeks</a:t>
            </a:r>
          </a:p>
        </p:txBody>
      </p:sp>
      <p:sp>
        <p:nvSpPr>
          <p:cNvPr id="13" name="TextBox 12"/>
          <p:cNvSpPr txBox="1"/>
          <p:nvPr/>
        </p:nvSpPr>
        <p:spPr>
          <a:xfrm>
            <a:off x="8302752" y="3657600"/>
            <a:ext cx="2980944" cy="457200"/>
          </a:xfrm>
          <a:prstGeom prst="rect">
            <a:avLst/>
          </a:prstGeom>
          <a:noFill/>
        </p:spPr>
        <p:txBody>
          <a:bodyPr wrap="square" anchor="t" lIns="0" rIns="0" tIns="0" bIns="0">
            <a:spAutoFit/>
          </a:bodyPr>
          <a:lstStyle/>
          <a:p>
            <a:pPr algn="ctr">
              <a:lnSpc>
                <a:spcPct val="105000"/>
              </a:lnSpc>
            </a:pPr>
            <a:r>
              <a:rPr sz="1600" b="1" i="0">
                <a:solidFill>
                  <a:srgbClr val="1A2B32"/>
                </a:solidFill>
                <a:latin typeface="Calibri"/>
              </a:rPr>
              <a:t>Time to value</a:t>
            </a:r>
          </a:p>
        </p:txBody>
      </p:sp>
      <p:sp>
        <p:nvSpPr>
          <p:cNvPr id="14" name="TextBox 13"/>
          <p:cNvSpPr txBox="1"/>
          <p:nvPr/>
        </p:nvSpPr>
        <p:spPr>
          <a:xfrm>
            <a:off x="8302752" y="4160520"/>
            <a:ext cx="2980944" cy="1280160"/>
          </a:xfrm>
          <a:prstGeom prst="rect">
            <a:avLst/>
          </a:prstGeom>
          <a:noFill/>
        </p:spPr>
        <p:txBody>
          <a:bodyPr wrap="square" anchor="t" lIns="0" rIns="0" tIns="0" bIns="0">
            <a:spAutoFit/>
          </a:bodyPr>
          <a:lstStyle/>
          <a:p>
            <a:pPr algn="ctr">
              <a:lnSpc>
                <a:spcPct val="120000"/>
              </a:lnSpc>
            </a:pPr>
            <a:r>
              <a:rPr sz="1200" b="0" i="0">
                <a:solidFill>
                  <a:srgbClr val="6B7C85"/>
                </a:solidFill>
                <a:latin typeface="Calibri"/>
              </a:rPr>
              <a:t>From kickoff to measurable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640080" y="822960"/>
            <a:ext cx="10058400" cy="457200"/>
          </a:xfrm>
          <a:prstGeom prst="rect">
            <a:avLst/>
          </a:prstGeom>
          <a:noFill/>
        </p:spPr>
        <p:txBody>
          <a:bodyPr wrap="square" anchor="t" lIns="0" rIns="0" tIns="0" bIns="0">
            <a:spAutoFit/>
          </a:bodyPr>
          <a:lstStyle/>
          <a:p>
            <a:pPr algn="l">
              <a:lnSpc>
                <a:spcPct val="105000"/>
              </a:lnSpc>
            </a:pPr>
            <a:r>
              <a:rPr sz="1400" b="1" i="0">
                <a:solidFill>
                  <a:srgbClr val="02C39A"/>
                </a:solidFill>
                <a:latin typeface="Calibri"/>
              </a:rPr>
              <a:t>THE RECOMMENDED PACKAGE</a:t>
            </a:r>
          </a:p>
        </p:txBody>
      </p:sp>
      <p:sp>
        <p:nvSpPr>
          <p:cNvPr id="3" name="TextBox 2"/>
          <p:cNvSpPr txBox="1"/>
          <p:nvPr/>
        </p:nvSpPr>
        <p:spPr>
          <a:xfrm>
            <a:off x="640080" y="1371600"/>
            <a:ext cx="10881360" cy="1005840"/>
          </a:xfrm>
          <a:prstGeom prst="rect">
            <a:avLst/>
          </a:prstGeom>
          <a:noFill/>
        </p:spPr>
        <p:txBody>
          <a:bodyPr wrap="square" anchor="t" lIns="0" rIns="0" tIns="0" bIns="0">
            <a:spAutoFit/>
          </a:bodyPr>
          <a:lstStyle/>
          <a:p>
            <a:pPr algn="l">
              <a:lnSpc>
                <a:spcPct val="105000"/>
              </a:lnSpc>
            </a:pPr>
            <a:r>
              <a:rPr sz="4000" b="1" i="0">
                <a:solidFill>
                  <a:srgbClr val="FFFFFF"/>
                </a:solidFill>
                <a:latin typeface="Cambria"/>
              </a:rPr>
              <a:t>Beauty Bakerie Growth &amp; Scale Suite</a:t>
            </a:r>
          </a:p>
        </p:txBody>
      </p:sp>
      <p:sp>
        <p:nvSpPr>
          <p:cNvPr id="4" name="TextBox 3"/>
          <p:cNvSpPr txBox="1"/>
          <p:nvPr/>
        </p:nvSpPr>
        <p:spPr>
          <a:xfrm>
            <a:off x="640080" y="2651760"/>
            <a:ext cx="10881360" cy="1463040"/>
          </a:xfrm>
          <a:prstGeom prst="rect">
            <a:avLst/>
          </a:prstGeom>
          <a:noFill/>
        </p:spPr>
        <p:txBody>
          <a:bodyPr wrap="square" anchor="t" lIns="0" rIns="0" tIns="0" bIns="0">
            <a:spAutoFit/>
          </a:bodyPr>
          <a:lstStyle/>
          <a:p>
            <a:pPr algn="l">
              <a:lnSpc>
                <a:spcPct val="120000"/>
              </a:lnSpc>
            </a:pPr>
            <a:r>
              <a:rPr sz="1700" b="0" i="0">
                <a:solidFill>
                  <a:srgbClr val="CADCFC"/>
                </a:solidFill>
                <a:latin typeface="Calibri"/>
              </a:rPr>
              <a:t>This bundle addresses the critical triad of modern beauty scaling: operational efficiency (AnyX), creator attribution (AnyTag), and performance marketing (AnyDigital). It transforms fragmented growth into a measurable, scalable engine.</a:t>
            </a:r>
          </a:p>
        </p:txBody>
      </p:sp>
      <p:sp>
        <p:nvSpPr>
          <p:cNvPr id="5" name="Rounded Rectangle 4"/>
          <p:cNvSpPr/>
          <p:nvPr/>
        </p:nvSpPr>
        <p:spPr>
          <a:xfrm>
            <a:off x="640080" y="4297680"/>
            <a:ext cx="1737360" cy="548640"/>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AnyX</a:t>
            </a:r>
          </a:p>
        </p:txBody>
      </p:sp>
      <p:sp>
        <p:nvSpPr>
          <p:cNvPr id="6" name="Rounded Rectangle 5"/>
          <p:cNvSpPr/>
          <p:nvPr/>
        </p:nvSpPr>
        <p:spPr>
          <a:xfrm>
            <a:off x="2514600" y="4297680"/>
            <a:ext cx="1737360" cy="548640"/>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AnyTag</a:t>
            </a:r>
          </a:p>
        </p:txBody>
      </p:sp>
      <p:sp>
        <p:nvSpPr>
          <p:cNvPr id="7" name="Rounded Rectangle 6"/>
          <p:cNvSpPr/>
          <p:nvPr/>
        </p:nvSpPr>
        <p:spPr>
          <a:xfrm>
            <a:off x="4389120" y="4297680"/>
            <a:ext cx="1737360" cy="548640"/>
          </a:xfrm>
          <a:prstGeom prst="round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AnyDigital</a:t>
            </a:r>
          </a:p>
        </p:txBody>
      </p:sp>
      <p:sp>
        <p:nvSpPr>
          <p:cNvPr id="8" name="TextBox 7"/>
          <p:cNvSpPr txBox="1"/>
          <p:nvPr/>
        </p:nvSpPr>
        <p:spPr>
          <a:xfrm>
            <a:off x="640080" y="5212080"/>
            <a:ext cx="10881360" cy="1097280"/>
          </a:xfrm>
          <a:prstGeom prst="rect">
            <a:avLst/>
          </a:prstGeom>
          <a:noFill/>
        </p:spPr>
        <p:txBody>
          <a:bodyPr wrap="square" anchor="t" lIns="0" rIns="0" tIns="0" bIns="0">
            <a:spAutoFit/>
          </a:bodyPr>
          <a:lstStyle/>
          <a:p>
            <a:pPr algn="l">
              <a:lnSpc>
                <a:spcPct val="120000"/>
              </a:lnSpc>
            </a:pPr>
            <a:r>
              <a:rPr sz="1400" b="0" i="1">
                <a:solidFill>
                  <a:srgbClr val="9FB4C4"/>
                </a:solidFill>
                <a:latin typeface="Calibri"/>
              </a:rPr>
              <a:t>90-day pilot focusing on integrating AnyX with top 3 marketplaces and launching a tracked influencer campaign via AnyTag to establish baseline ROI 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