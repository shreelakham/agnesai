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2C39A"/>
                </a:solidFill>
                <a:latin typeface="Calibri"/>
              </a:rPr>
              <a:t>ANYMIND  ·  COMPETITIVE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6217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Cambria"/>
              </a:rPr>
              <a:t>Acme beauty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6035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ADCFC"/>
                </a:solidFill>
                <a:latin typeface="Calibri"/>
              </a:rPr>
              <a:t>Transform Acme Beauty from a fragmented retailer into a data-driven, creator-led omnichannel leader, driving sustainable revenue growth and operational excellence across APAC.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88175" y="1463040"/>
            <a:ext cx="4754880" cy="3931920"/>
          </a:xfrm>
          <a:prstGeom prst="roundRect">
            <a:avLst/>
          </a:prstGeom>
          <a:solidFill>
            <a:srgbClr val="028090"/>
          </a:solidFill>
          <a:ln w="9525">
            <a:solidFill>
              <a:srgbClr val="E2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A2B32"/>
                </a:solidFill>
                <a:latin typeface="Cambria"/>
              </a:rPr>
              <a:t>The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28090"/>
                </a:solidFill>
                <a:latin typeface="Calibri"/>
              </a:rPr>
              <a:t>WHO THEY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6400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A2B32"/>
                </a:solidFill>
                <a:latin typeface="Calibri"/>
              </a:rPr>
              <a:t>A mid-tier beauty brand operating primarily through fragmented retail channels and basic social media presence, lacking a unified digital infrastructure or data-driven growth engine.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28090"/>
                </a:solidFill>
                <a:latin typeface="Calibri"/>
              </a:rPr>
              <a:t>COMPETITIVE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6400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A2B32"/>
                </a:solidFill>
                <a:latin typeface="Calibri"/>
              </a:rPr>
              <a:t>Vulnerable to agile D2C competitors and major global brands leveraging sophisticated creator economies and omnichannel logistics. Currently reliant on third-party marketplace fees and manual influencer coordination.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28090"/>
                </a:solidFill>
                <a:latin typeface="Calibri"/>
              </a:rPr>
              <a:t>KEY COMPETITORS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011680"/>
            <a:ext cx="40233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2130552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A2B32"/>
                </a:solidFill>
                <a:latin typeface="Calibri"/>
              </a:rPr>
              <a:t>Glossier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724912"/>
            <a:ext cx="40233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2843784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A2B32"/>
                </a:solidFill>
                <a:latin typeface="Calibri"/>
              </a:rPr>
              <a:t>Fenty Beauty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438144"/>
            <a:ext cx="40233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3557016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A2B32"/>
                </a:solidFill>
                <a:latin typeface="Calibri"/>
              </a:rPr>
              <a:t>Local indie D2C beauty brands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A2B32"/>
                </a:solidFill>
                <a:latin typeface="Cambria"/>
              </a:rPr>
              <a:t>Where They're Losing Ground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529584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371600" cy="384048"/>
          </a:xfrm>
          <a:prstGeom prst="roundRect">
            <a:avLst/>
          </a:prstGeom>
          <a:solidFill>
            <a:srgbClr val="D7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298094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A2B32"/>
                </a:solidFill>
                <a:latin typeface="Cambria"/>
              </a:rPr>
              <a:t>Fragmented sales channels and lack of centralized inventory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8094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6B7C85"/>
                </a:solidFill>
                <a:latin typeface="Calibri"/>
              </a:rPr>
              <a:t>Inability to unify marketplace and direct sales data leads to stockouts, overselling, and poor customer experience across touchpoints.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554480"/>
            <a:ext cx="3529584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08576" y="1828800"/>
            <a:ext cx="1371600" cy="384048"/>
          </a:xfrm>
          <a:prstGeom prst="roundRect">
            <a:avLst/>
          </a:prstGeom>
          <a:solidFill>
            <a:srgbClr val="D7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423160"/>
            <a:ext cx="298094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A2B32"/>
                </a:solidFill>
                <a:latin typeface="Cambria"/>
              </a:rPr>
              <a:t>Unoptimized influencer marketing spend with poor attribution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3749039"/>
            <a:ext cx="298094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6B7C85"/>
                </a:solidFill>
                <a:latin typeface="Calibri"/>
              </a:rPr>
              <a:t>Reliance on manual outreach and vague ROI metrics results in wasted budget and missed conversion opportunities from key APAC demographics.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554480"/>
            <a:ext cx="3529584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02752" y="1828800"/>
            <a:ext cx="1371600" cy="384048"/>
          </a:xfrm>
          <a:prstGeom prst="roundRect">
            <a:avLst/>
          </a:prstGeom>
          <a:solidFill>
            <a:srgbClr val="E0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23160"/>
            <a:ext cx="298094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A2B32"/>
                </a:solidFill>
                <a:latin typeface="Cambria"/>
              </a:rPr>
              <a:t>Low customer retention and engagement post-purchase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3749039"/>
            <a:ext cx="298094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6B7C85"/>
                </a:solidFill>
                <a:latin typeface="Calibri"/>
              </a:rPr>
              <a:t>Beauty is a high-repeat category; without conversational commerce tools, the brand fails to nurture loyalty or drive repeat purchases effectively.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A2B32"/>
                </a:solidFill>
                <a:latin typeface="Cambria"/>
              </a:rPr>
              <a:t>How AnyMind Closes the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1088136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865376"/>
            <a:ext cx="1417320" cy="45720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AnyX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700784"/>
            <a:ext cx="2468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28090"/>
                </a:solidFill>
                <a:latin typeface="Calibri"/>
              </a:rPr>
              <a:t>Fragmented sales channels and lack of centralized inventory…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700784"/>
            <a:ext cx="6126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2B32"/>
                </a:solidFill>
                <a:latin typeface="Calibri"/>
              </a:rPr>
              <a:t>Centralizes operations across all marketplaces and D2C storefronts, providing real-time inventory sync and unified order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79776"/>
            <a:ext cx="1088136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3090672"/>
            <a:ext cx="1417320" cy="45720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AnyTag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926080"/>
            <a:ext cx="2468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28090"/>
                </a:solidFill>
                <a:latin typeface="Calibri"/>
              </a:rPr>
              <a:t>Unoptimized influencer marketing spend with poor attribution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926080"/>
            <a:ext cx="6126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2B32"/>
                </a:solidFill>
                <a:latin typeface="Calibri"/>
              </a:rPr>
              <a:t>Discovers and activates relevant APAC creators, tracks campaign performance, and attributes sales directly to specific influencers for precise ROI measurement.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05072"/>
            <a:ext cx="1088136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4315968"/>
            <a:ext cx="1417320" cy="45720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AnyChat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4151376"/>
            <a:ext cx="2468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28090"/>
                </a:solidFill>
                <a:latin typeface="Calibri"/>
              </a:rPr>
              <a:t>Low customer retention and engagement post-purchase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4151376"/>
            <a:ext cx="6126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2B32"/>
                </a:solidFill>
                <a:latin typeface="Calibri"/>
              </a:rPr>
              <a:t>Enables personalized, automated conversational commerce via chat apps to handle support, upsell products, and drive repeat purchases.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A2B32"/>
                </a:solidFill>
                <a:latin typeface="Cambria"/>
              </a:rPr>
              <a:t>Projected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529584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400"/>
            <a:ext cx="316382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000" b="1" i="0">
                <a:solidFill>
                  <a:srgbClr val="028090"/>
                </a:solidFill>
                <a:latin typeface="Cambria"/>
              </a:rPr>
              <a:t>15%–30%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A2B32"/>
                </a:solidFill>
                <a:latin typeface="Calibri"/>
              </a:rPr>
              <a:t>Revenue / profit uplift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298094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B7C85"/>
                </a:solidFill>
                <a:latin typeface="Calibri"/>
              </a:rPr>
              <a:t>Conservative estimate based on improved conversion rates from unified checkout and influencer attribution efficiency gains.  (Within 12 months)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645920"/>
            <a:ext cx="3529584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6" y="2057400"/>
            <a:ext cx="316382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028090"/>
                </a:solidFill>
                <a:latin typeface="Cambria"/>
              </a:rPr>
              <a:t>20 hours/week–40 hours/week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365760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A2B32"/>
                </a:solidFill>
                <a:latin typeface="Calibri"/>
              </a:rPr>
              <a:t>Time / efficiency 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4160520"/>
            <a:ext cx="298094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B7C85"/>
                </a:solidFill>
                <a:latin typeface="Calibri"/>
              </a:rPr>
              <a:t>Manual inventory reconciliation, influencer outreach, and customer service ticket resolution.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645920"/>
            <a:ext cx="3529584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1" y="2057400"/>
            <a:ext cx="316382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028090"/>
                </a:solidFill>
                <a:latin typeface="Cambria"/>
              </a:rPr>
              <a:t>60 days for A…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65760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A2B32"/>
                </a:solidFill>
                <a:latin typeface="Calibri"/>
              </a:rPr>
              <a:t>Time to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4160520"/>
            <a:ext cx="298094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B7C85"/>
                </a:solidFill>
                <a:latin typeface="Calibri"/>
              </a:rPr>
              <a:t>From kickoff to measurable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2C39A"/>
                </a:solidFill>
                <a:latin typeface="Calibri"/>
              </a:rPr>
              <a:t>THE RECOMMENDED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Acme Beauty Omnichannel Growth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CADCFC"/>
                </a:solidFill>
                <a:latin typeface="Calibri"/>
              </a:rPr>
              <a:t>This bundle addresses the core operational bottleneck (AnyX), unlocks scalable acquisition (AnyTag), and maximizes lifetime value through retention (AnyChat), creating a closed-loop growth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297680"/>
            <a:ext cx="1737360" cy="54864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AnyX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4297680"/>
            <a:ext cx="1737360" cy="54864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AnyTag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297680"/>
            <a:ext cx="1737360" cy="54864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AnyChat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9FB4C4"/>
                </a:solidFill>
                <a:latin typeface="Calibri"/>
              </a:rPr>
              <a:t>12-month enterprise license with dedicated success manager for initial marketplace integration and first campaign launch.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